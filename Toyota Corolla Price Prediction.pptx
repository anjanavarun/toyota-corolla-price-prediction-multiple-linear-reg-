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embeddedFontLst>
    <p:embeddedFont>
      <p:font typeface="Urbanist" panose="020B0604020202020204" charset="0"/>
      <p:regular r:id="rId8"/>
      <p:bold r:id="rId9"/>
      <p:italic r:id="rId10"/>
      <p:boldItalic r:id="rId11"/>
    </p:embeddedFont>
    <p:embeddedFont>
      <p:font typeface="Urbanist SemiBold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FF75A2-49B6-49A5-B400-F82AFBCDB27E}">
  <a:tblStyle styleId="{53FF75A2-49B6-49A5-B400-F82AFBCDB27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EC23984-C9FC-4475-B0AD-22C4BF93136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34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0" y="-1905000"/>
            <a:ext cx="5715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1504950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4CC1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AUTOMOTIVE ANALYTICS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1876425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Toyota Corolla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Price Prediction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3933825"/>
            <a:ext cx="7620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Multiple Linear Regression analysis of market depreciation, featuring iterative model optimization.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05087"/>
            <a:ext cx="5238750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605087"/>
            <a:ext cx="5238750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3024187"/>
            <a:ext cx="47005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 1: The Baseline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3538537"/>
            <a:ext cx="4476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initial multiple linear regression included all available variables. However, hypothesis testing (p-values) revealed that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Doors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Gears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were not statistically significant predictors of price.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62750" y="3024187"/>
            <a:ext cx="47005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 2: The Refined Model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62750" y="3538537"/>
            <a:ext cx="4476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 prevent overfitting and improve model simplicity, we dropped the insignificant features (Doors/Gears). Model 2 focuses strictly on the highest-impact mechanical and usage metrics.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571500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ITERATIVE MODELING PROCESS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7" name="Google Shape;107;p15"/>
          <p:cNvGraphicFramePr/>
          <p:nvPr>
            <p:extLst>
              <p:ext uri="{D42A27DB-BD31-4B8C-83A1-F6EECF244321}">
                <p14:modId xmlns:p14="http://schemas.microsoft.com/office/powerpoint/2010/main" val="1849263295"/>
              </p:ext>
            </p:extLst>
          </p:nvPr>
        </p:nvGraphicFramePr>
        <p:xfrm>
          <a:off x="316150" y="2320268"/>
          <a:ext cx="6543875" cy="2720225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42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1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1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Metric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Description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Model 1 (All Features)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Model 2 (Refined)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R-Squared (R²)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% of price variance explained by the model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7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IN" sz="1500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0.8595</a:t>
                      </a:r>
                      <a:endParaRPr sz="1500" dirty="0">
                        <a:solidFill>
                          <a:schemeClr val="tx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0.8595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5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RMSE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Root Mean Squared Error </a:t>
                      </a:r>
                      <a:endParaRPr sz="1500" b="0" u="none" strike="noStrike" cap="none">
                        <a:solidFill>
                          <a:schemeClr val="tx1"/>
                        </a:solidFill>
                        <a:sym typeface="Urbanist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(Average prediction error in €)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1239.03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1239.03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8" name="Google Shape;108;p15"/>
          <p:cNvSpPr txBox="1"/>
          <p:nvPr/>
        </p:nvSpPr>
        <p:spPr>
          <a:xfrm>
            <a:off x="179048" y="5907184"/>
            <a:ext cx="110490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Insight: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By dropping 'Doors' and 'Gears', Model 2 maintains a similar R² score</a:t>
            </a:r>
            <a:endParaRPr dirty="0"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3835" y="5917044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09625" y="571500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 PERFORMANCE COMPARISON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2" name="Google Shape;112;p15"/>
          <p:cNvGraphicFramePr/>
          <p:nvPr>
            <p:extLst>
              <p:ext uri="{D42A27DB-BD31-4B8C-83A1-F6EECF244321}">
                <p14:modId xmlns:p14="http://schemas.microsoft.com/office/powerpoint/2010/main" val="1981684668"/>
              </p:ext>
            </p:extLst>
          </p:nvPr>
        </p:nvGraphicFramePr>
        <p:xfrm>
          <a:off x="7243075" y="1764087"/>
          <a:ext cx="4632775" cy="356589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31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Feature Importance (Coefficients)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Gears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563.91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563.91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HP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 38.59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 38.59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Weight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19.70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19.70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Quaterly_tax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8.20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8.20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KM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 -0.019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 -0.019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CC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-2.17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-2.17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Doors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 -15.89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 -15.89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Age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 -120.44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 -120.44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2638425"/>
            <a:ext cx="55006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Regression &amp; Residuals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19111" y="3108485"/>
            <a:ext cx="363275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Regression Plot confirms our line of best fit captures the core market trend.</a:t>
            </a:r>
            <a:endParaRPr dirty="0"/>
          </a:p>
        </p:txBody>
      </p:sp>
      <p:sp>
        <p:nvSpPr>
          <p:cNvPr id="148" name="Google Shape;148;p17"/>
          <p:cNvSpPr txBox="1"/>
          <p:nvPr/>
        </p:nvSpPr>
        <p:spPr>
          <a:xfrm>
            <a:off x="119111" y="3967637"/>
            <a:ext cx="3632757" cy="226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Residual Plot verifies </a:t>
            </a:r>
            <a:r>
              <a:rPr lang="en-US" sz="15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Homoscedasticity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Because the errors are randomly distributed without clear patterns, we confirm that linear regression is the correct algorithmic choice for this dataset.</a:t>
            </a:r>
            <a:endParaRPr dirty="0"/>
          </a:p>
        </p:txBody>
      </p:sp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111" y="26479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753064" y="563743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DIAGNOSTICS: MODEL 2 VALIDATION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0D5218-FB81-081F-CCCF-9396981DD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868" y="1202956"/>
            <a:ext cx="4402318" cy="31886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548406-8466-3B55-429D-6DB87C6EF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4972" y="3058243"/>
            <a:ext cx="3827917" cy="28709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00275"/>
            <a:ext cx="11049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295275" y="3057525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Strategic Conclusion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809750" y="3829050"/>
            <a:ext cx="8572500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Model 2 successfully isolates the true drivers of depreciation. By utilizing this refined model, dealerships can predict Toyota Corolla trade-in values with high precision, avoiding the noise introduced by irrelevant features like doors and gears.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Office PowerPoint</Application>
  <PresentationFormat>Widescreen</PresentationFormat>
  <Paragraphs>54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Arial</vt:lpstr>
      <vt:lpstr>Urbanist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Lenovo</cp:lastModifiedBy>
  <cp:revision>1</cp:revision>
  <dcterms:modified xsi:type="dcterms:W3CDTF">2026-05-11T17:02:41Z</dcterms:modified>
</cp:coreProperties>
</file>